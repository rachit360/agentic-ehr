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i8k4vfTcigBOvi1GPtpHoS9j9j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83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36427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5277F93-7EDB-12E4-E5EC-50410E1BF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810FF906-43F6-85DF-C508-D493C312CA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0804154A-EC96-2554-1454-913CCC2F54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3784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76DBE479-EB6C-6E0A-067B-02ACFE3EA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FF0D82FA-C2A8-82B6-72A6-ECDD378AD5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E9588CAD-3840-DAC1-85CE-900BC489C2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7377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4D0E429-7007-9ECE-C3DE-0FB4CFD36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2F652F4-288E-AC65-7D20-E902960FE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E6CC5D82-6A44-56D7-5BD4-23513035A7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6256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94F5C34-5E6B-7EF9-0F15-392CC5B8B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D25D1EA2-1089-DB4E-CD36-0844E7D4FA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63E5440F-7F1A-8E16-E5EE-33D7F1D08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9971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EC99D2B-D609-0371-56A9-2F8FF16DF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CCB308D-3544-6A89-22F8-4B12AA62C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7CD07845-4AA7-2399-B850-91D264061C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25957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40C3931A-53A4-D2E9-9F93-3B7C4A750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7B51E3D7-EEFC-E103-0C60-CD4839AF5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A70F22AD-AB6B-106D-9AE7-B0D4677041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1403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844078D-FD83-4DC4-87B5-6EAC763D5906}" type="datetime1">
              <a:rPr lang="en-US" smtClean="0"/>
              <a:t>3/7/2026</a:t>
            </a:fld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1DF9AFC-F9E1-4479-91CA-51DE23BE06C0}" type="datetime1">
              <a:rPr lang="en-US" smtClean="0"/>
              <a:t>3/7/2026</a:t>
            </a:fld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9FC8BA9-0052-4A4B-AAC4-F1DA6E9A0951}" type="datetime1">
              <a:rPr lang="en-US" smtClean="0"/>
              <a:t>3/7/2026</a:t>
            </a:fld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EE5975C-54BF-4B80-AA1D-34FEDE04C514}" type="datetime1">
              <a:rPr lang="en-US" smtClean="0"/>
              <a:t>3/7/2026</a:t>
            </a:fld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935E131-B057-4B5A-921A-45A17AB83A39}" type="datetime1">
              <a:rPr lang="en-US" smtClean="0"/>
              <a:t>3/7/2026</a:t>
            </a:fld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D410C21-D32E-4039-AC8D-8060CCD087C7}" type="datetime1">
              <a:rPr lang="en-US" smtClean="0"/>
              <a:t>3/7/2026</a:t>
            </a:fld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842470F-944B-4F77-8D45-B63A55CC33FF}" type="datetime1">
              <a:rPr lang="en-US" smtClean="0"/>
              <a:t>3/7/2026</a:t>
            </a:fld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75A165D-5015-4ADC-9FF9-8C921860CB8C}" type="datetime1">
              <a:rPr lang="en-US" smtClean="0"/>
              <a:t>3/7/2026</a:t>
            </a:fld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D6CF090-41B5-4D51-B0EA-9CC4891ED4B8}" type="datetime1">
              <a:rPr lang="en-US" smtClean="0"/>
              <a:t>3/7/2026</a:t>
            </a:fld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BF1B794-8BE6-4F88-BEF5-2F4D1E5B30A1}" type="datetime1">
              <a:rPr lang="en-US" smtClean="0"/>
              <a:t>3/7/2026</a:t>
            </a:fld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9FC83D00-5052-4CBE-A416-5F7F5A2FF57A}" type="datetime1">
              <a:rPr lang="en-US" smtClean="0"/>
              <a:t>3/7/2026</a:t>
            </a:fld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250991" y="2300037"/>
            <a:ext cx="8642017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ts val="4400"/>
            </a:pPr>
            <a:r>
              <a:rPr lang="en-GB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DigiRepo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EHR Summarization using Agentic AI</a:t>
            </a:r>
            <a:b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Category : Researched Based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3844143" y="4386263"/>
            <a:ext cx="5048865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indent="0" algn="l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Batch ID : 287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Student Reg.no : RA2211003010630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: Aman Jain</a:t>
            </a: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592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Student Reg.no : RA2211003010610</a:t>
            </a:r>
          </a:p>
          <a:p>
            <a:pPr marL="0" lvl="0" indent="0">
              <a:spcBef>
                <a:spcPts val="592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Student Name : Saransh Manu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735931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1964531" y="569724"/>
            <a:ext cx="61722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SRM INSTITUTE OF SCIENCE AND TECHNOLOGY 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SCHOOL OF COMPUTING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COMPUTING TECHNOLOGIES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21CSP401L – MAJOR PROJECT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/ 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21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CSP402L - MAJOR PROJECT AND 21CSP403L - INTERNSHI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</a:t>
            </a:r>
            <a:endParaRPr lang="en-US"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Google Shape;89;p1"/>
          <p:cNvSpPr txBox="1">
            <a:spLocks/>
          </p:cNvSpPr>
          <p:nvPr/>
        </p:nvSpPr>
        <p:spPr>
          <a:xfrm>
            <a:off x="-654537" y="4386263"/>
            <a:ext cx="5238136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name: Dr. Pradeep Mohankumar K </a:t>
            </a:r>
          </a:p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Associate Professor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Department: Computing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-122904" y="731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2CA6D-B487-81DA-B8CA-8A2AE99CC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114300" indent="0" algn="just">
              <a:buNone/>
            </a:pPr>
            <a:endParaRPr lang="en-GB" dirty="0"/>
          </a:p>
          <a:p>
            <a:pPr marL="114300" indent="0" algn="just">
              <a:buNone/>
            </a:pPr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DigiRepo is a AI-powered medical records management platform that digitizes and streamlines how patients and doctors manage medical history. It provides a secure portal for uploading, storing, and sharing PDF medical reports. An integrated 5-step AI pipeline automatically extracts, analyzes, and summarizes each uploaded report in real time — helping doctors make faster decisions and patients better understand their health records.</a:t>
            </a:r>
            <a:r>
              <a:rPr lang="en-GB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summarizing multi-source health data autonomously. The system integrates structured (FHIR-based) and unstructured data to produce concise, context-aware summaries, improving decision-making and patient understanding.-This research aims to bridge the gap between EHR interoperability and AI-driven clinical intelligence, making healthcare more accessible, explainable, and efficient.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132735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6FEFF-E6BD-E020-75D7-9D8EC34D0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374" y="1696353"/>
            <a:ext cx="8229600" cy="5121275"/>
          </a:xfrm>
        </p:spPr>
        <p:txBody>
          <a:bodyPr>
            <a:normAutofit fontScale="62500" lnSpcReduction="20000"/>
          </a:bodyPr>
          <a:lstStyle/>
          <a:p>
            <a:pPr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DigiRepo addresses the critical gap in healthcare: patients carry physical reports to every visit, doctors waste time reading dense documents, and medical history is fragmented across providers.ross hospitals.</a:t>
            </a:r>
          </a:p>
          <a:p>
            <a:pPr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DigiRepo solves all three problems: a secure digital portal for record storage, AI-powered instant summaries, and a role-based access system for doctors and patients.efficiently.</a:t>
            </a:r>
          </a:p>
          <a:p>
            <a:pPr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is built on a MERN stack (MongoDB, Express, React, Node.js) with an Ollama AI server for local inference.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automate workflows such as data retrieval, analysis, and summarization.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distinct portals exist: a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Dashboard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managing patients and viewing AI summaries, and a Patient Portal for self-service record uploads and an AI chat assistant.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result: faster clinical decisions, reduced paperwork, and improved patient engagement with their own health data.re support.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086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6;p2">
            <a:extLst>
              <a:ext uri="{FF2B5EF4-FFF2-40B4-BE49-F238E27FC236}">
                <a16:creationId xmlns:a16="http://schemas.microsoft.com/office/drawing/2014/main" id="{158DB042-B8C1-C05D-AD1A-02110150BB4A}"/>
              </a:ext>
            </a:extLst>
          </p:cNvPr>
          <p:cNvSpPr txBox="1">
            <a:spLocks/>
          </p:cNvSpPr>
          <p:nvPr/>
        </p:nvSpPr>
        <p:spPr>
          <a:xfrm>
            <a:off x="1081454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/>
              <a:t>     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98;p2">
            <a:extLst>
              <a:ext uri="{FF2B5EF4-FFF2-40B4-BE49-F238E27FC236}">
                <a16:creationId xmlns:a16="http://schemas.microsoft.com/office/drawing/2014/main" id="{FA86B57C-89C6-31AB-835B-610C07E7A0C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8070" y="467042"/>
            <a:ext cx="2237740" cy="75501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997EC5-2B8A-123B-9553-5964572B7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397882"/>
              </p:ext>
            </p:extLst>
          </p:nvPr>
        </p:nvGraphicFramePr>
        <p:xfrm>
          <a:off x="228600" y="1520506"/>
          <a:ext cx="8458200" cy="4659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112282034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788336238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99468433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356646952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16058200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815573646"/>
                    </a:ext>
                  </a:extLst>
                </a:gridCol>
              </a:tblGrid>
              <a:tr h="15533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S.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Authors /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0025507"/>
                  </a:ext>
                </a:extLst>
              </a:tr>
              <a:tr h="15533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Generative AI for Medical Text Summarization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Zhang et al.,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Fine-tuned GPT-based summarizer on MIMIC data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Improved readability &amp; context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Model hallucination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267199"/>
                  </a:ext>
                </a:extLst>
              </a:tr>
              <a:tr h="1553332"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FHIR-Based EHR Interoperability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Lee et al.,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RESTful APIs for cross-hospital data exchange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Promotes standardized EHR sharing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Requires consistent data formats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559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7017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Security">
          <a:extLst>
            <a:ext uri="{FF2B5EFAI Layer-FFF2-40B4-BE49-F2Frontend8E27FC236}">
              <a16:creationId xmlns="" xmlns:a16="http://schemas.microsoft.com/office/drawing/2014/main" id="{A6C63A2C-EC55-43FC-13A2-1E247158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13751FD5-8843-190D-3693-813430F0E8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B67B759E-DDA3-4428-E69B-6225BB505D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D323C3-5DF8-6C45-C048-3BA5CFA28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814593"/>
              </p:ext>
            </p:extLst>
          </p:nvPr>
        </p:nvGraphicFramePr>
        <p:xfrm>
          <a:off x="228600" y="1487424"/>
          <a:ext cx="8458200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108153058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6848655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6084279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3409832635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74377812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395854763"/>
                    </a:ext>
                  </a:extLst>
                </a:gridCol>
              </a:tblGrid>
              <a:tr h="15646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ClinicalBERT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: NLP for Clinical 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Alsentzer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et al.,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BERT model on hospital 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Captures clinical terminology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Limited generalization to unseen data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777176"/>
                  </a:ext>
                </a:extLst>
              </a:tr>
              <a:tr h="15646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LLM Agents for Autonomous Healthcare Tasks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Wu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Multi-agent orchestration for medical analysis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Improves automation and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Early-stage, not domain-specific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860907"/>
                  </a:ext>
                </a:extLst>
              </a:tr>
              <a:tr h="15646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Explainable AI in Healthcare Decision Systems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Kumar &amp; Jain,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XAI techniques for medical data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Increases clinician 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Doesn’t perform full automation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630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0040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3ACE90F3-7633-939C-C3F5-137A93C1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9E61469A-3371-0B06-B6A8-E31038F149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735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160A916C-DE87-0B9A-A116-A70A5FE7E6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3CAD997-5A9F-A75A-2748-4A6AF80103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23904-0847-9173-537E-92A18453D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830387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fontAlgn="base"/>
            <a:r>
              <a:rPr lang="en-IN" dirty="0"/>
              <a:t>Dual Role Authentication — Separate portals for Doctors (DOC-XXXX IDs) and Patients (PAT-XXXX IDs) with JWT-based security.</a:t>
            </a:r>
            <a:br>
              <a:rPr lang="en-IN" dirty="0"/>
            </a:br>
            <a:endParaRPr lang="en-IN" dirty="0"/>
          </a:p>
          <a:p>
            <a:pPr fontAlgn="base"/>
            <a:r>
              <a:rPr lang="en-IN" dirty="0"/>
              <a:t>PDF Upload &amp; AI Summary — Upload medical PDFs up to 20MB; AI agent generates structured summaries automatically.</a:t>
            </a:r>
            <a:br>
              <a:rPr lang="en-IN" dirty="0"/>
            </a:br>
            <a:endParaRPr lang="en-IN" dirty="0"/>
          </a:p>
          <a:p>
            <a:pPr fontAlgn="base"/>
            <a:r>
              <a:rPr lang="en-IN" dirty="0"/>
              <a:t>AI Chat Assistant — </a:t>
            </a:r>
            <a:r>
              <a:rPr lang="en-IN" b="1" dirty="0"/>
              <a:t>Patients can ask questions</a:t>
            </a:r>
            <a:r>
              <a:rPr lang="en-IN" dirty="0"/>
              <a:t> about their reports via a conversational AI interface powered by Ollama.</a:t>
            </a:r>
            <a:br>
              <a:rPr lang="en-IN" dirty="0"/>
            </a:br>
            <a:endParaRPr lang="en-IN" dirty="0"/>
          </a:p>
          <a:p>
            <a:pPr fontAlgn="base"/>
            <a:r>
              <a:rPr lang="en-IN" dirty="0"/>
              <a:t>Doctor Dashboard — </a:t>
            </a:r>
            <a:r>
              <a:rPr lang="en-IN" b="1" dirty="0"/>
              <a:t>Manage patients, view reports, and read AI-generated insights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pPr fontAlgn="base"/>
            <a:r>
              <a:rPr lang="en-IN" dirty="0"/>
              <a:t>Shared Access Control — Patients can grant specific doctors access to their records; access is revoked anytime.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8574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ED655090-3E2E-6D8C-8B23-2EF6EFD8D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51E94FF9-31F2-42B9-5899-1B68091455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1128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Pipeline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DB744CD4-26D2-18D6-34AD-43CB9C2D23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CCAF146-1827-5C3A-0162-C0D5A13F06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A073A-A009-0E26-898E-3ECFAD9CE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IN" dirty="0"/>
              <a:t>When a PDF is uploaded, the backend fires a 5-step AI pipeline asynchronously. The report card updates in real time via polling.ical insight generation.</a:t>
            </a:r>
          </a:p>
          <a:p>
            <a:pPr marL="114300" indent="0">
              <a:buNone/>
            </a:pPr>
            <a:endParaRPr lang="en-IN" dirty="0"/>
          </a:p>
          <a:p>
            <a:r>
              <a:rPr lang="en-IN" b="1" dirty="0"/>
              <a:t>Pipeline Steps:</a:t>
            </a:r>
          </a:p>
          <a:p>
            <a:pPr marL="114300" indent="0">
              <a:buNone/>
            </a:pPr>
            <a:endParaRPr lang="en-IN" dirty="0"/>
          </a:p>
          <a:p>
            <a:pPr fontAlgn="base"/>
            <a:r>
              <a:rPr lang="en-IN" dirty="0"/>
              <a:t>Step 1 — PDF Text Extraction: Custom parser decodes PDF binary format (supports ASCII85 + FlateDecode and raw text streams).</a:t>
            </a:r>
            <a:br>
              <a:rPr lang="en-IN" dirty="0"/>
            </a:br>
            <a:endParaRPr lang="en-IN" dirty="0"/>
          </a:p>
          <a:p>
            <a:pPr fontAlgn="base"/>
            <a:r>
              <a:rPr lang="en-IN" dirty="0"/>
              <a:t>Step 2 — Data Cleaning: Removes noise, normalizes whitespace, and prepares structured text for AI input.</a:t>
            </a:r>
            <a:br>
              <a:rPr lang="en-IN" dirty="0"/>
            </a:br>
            <a:endParaRPr lang="en-IN" dirty="0"/>
          </a:p>
          <a:p>
            <a:pPr fontAlgn="base"/>
            <a:r>
              <a:rPr lang="en-IN" dirty="0"/>
              <a:t>Step 3 — AI Summarization: </a:t>
            </a:r>
            <a:r>
              <a:rPr lang="en-IN" dirty="0" err="1"/>
              <a:t>Ollama (llama3.2)</a:t>
            </a:r>
            <a:r>
              <a:rPr lang="en-IN" dirty="0"/>
              <a:t>generates a structured medical summary with diagnosis, medications, and recommendations.</a:t>
            </a:r>
            <a:br>
              <a:rPr lang="en-IN" dirty="0"/>
            </a:br>
            <a:endParaRPr lang="en-IN" dirty="0"/>
          </a:p>
          <a:p>
            <a:pPr fontAlgn="base"/>
            <a:r>
              <a:rPr lang="en-IN" dirty="0"/>
              <a:t>Step 4 — Tagging &amp; Categorization: AI assigns tags (e.g., Blood Test, X-Ray) and a severity level (Normal / Attention / Critical).</a:t>
            </a:r>
            <a:br>
              <a:rPr lang="en-IN" dirty="0"/>
            </a:br>
            <a:endParaRPr lang="en-IN" dirty="0"/>
          </a:p>
          <a:p>
            <a:pPr fontAlgn="base"/>
            <a:r>
              <a:rPr lang="en-IN" dirty="0"/>
              <a:t>Step 5 — Storage &amp; Status Update: Summary saved to MongoDB; report status updated from "processing" to "completed".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7615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CEADB57-96D9-87C8-DB83-894F989B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AAF0CAE2-9DC9-9D47-4465-039E70D922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4319" y="402724"/>
            <a:ext cx="714313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ts val="4400"/>
            </a:pPr>
            <a:r>
              <a:rPr lang="en-US" dirty="0"/>
              <a:t>    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Access Control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973FDF93-0839-AC60-F8B9-E7B9D78FFB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80DF7FC2-2884-F867-2A37-1C6432438D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73F07-4F8C-17DB-424F-F45E54FDF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546" y="1458997"/>
            <a:ext cx="8229600" cy="5257800"/>
          </a:xfrm>
        </p:spPr>
        <p:txBody>
          <a:bodyPr>
            <a:normAutofit fontScale="62500" lnSpcReduction="20000"/>
          </a:bodyPr>
          <a:lstStyle/>
          <a:p>
            <a:r>
              <a:rPr lang="en-GB" b="1" dirty="0"/>
              <a:t>Authentication:</a:t>
            </a:r>
            <a:br>
              <a:rPr lang="en-GB" b="1" dirty="0"/>
            </a:br>
            <a:r>
              <a:rPr lang="en-GB" b="1" dirty="0"/>
              <a:t>Goal 3 – Good Health and Well-Being</a:t>
            </a:r>
            <a:br>
              <a:rPr lang="en-GB" b="1" dirty="0"/>
            </a:br>
            <a:r>
              <a:rPr lang="en-GB" b="1" dirty="0"/>
              <a:t>Goal 9 – Industry, Innovation, and Infrastructure</a:t>
            </a:r>
          </a:p>
          <a:p>
            <a:pPr marL="114300" indent="0">
              <a:buNone/>
            </a:pPr>
            <a:endParaRPr lang="en-GB" dirty="0"/>
          </a:p>
          <a:p>
            <a:r>
              <a:rPr lang="en-GB" b="1" dirty="0"/>
              <a:t>Role-Based Access Control:</a:t>
            </a:r>
          </a:p>
          <a:p>
            <a:pPr marL="114300" indent="0">
              <a:buNone/>
            </a:pPr>
            <a:endParaRPr lang="en-GB" dirty="0"/>
          </a:p>
          <a:p>
            <a:pPr fontAlgn="base"/>
            <a:r>
              <a:rPr lang="en-GB" dirty="0"/>
              <a:t>Doctors access only their own patients or those who granted explicit permission.</a:t>
            </a:r>
            <a:br>
              <a:rPr lang="en-GB" dirty="0"/>
            </a:br>
            <a:endParaRPr lang="en-GB" dirty="0"/>
          </a:p>
          <a:p>
            <a:pPr fontAlgn="base"/>
            <a:r>
              <a:rPr lang="en-GB" dirty="0"/>
              <a:t>Patients access only their own reports and profile — never other patients' data.</a:t>
            </a:r>
            <a:br>
              <a:rPr lang="en-GB" dirty="0"/>
            </a:br>
            <a:endParaRPr lang="en-GB" dirty="0"/>
          </a:p>
          <a:p>
            <a:pPr fontAlgn="base"/>
            <a:r>
              <a:rPr lang="en-GB" dirty="0"/>
              <a:t>Shared access stored on Patient model; checked on every query.</a:t>
            </a:r>
            <a:br>
              <a:rPr lang="en-GB" dirty="0"/>
            </a:br>
            <a:endParaRPr lang="en-GB" dirty="0"/>
          </a:p>
          <a:p>
            <a:pPr fontAlgn="base"/>
            <a:r>
              <a:rPr lang="en-GB" dirty="0"/>
              <a:t>File Security: PDF-only uploads, 20MB limit, randomized filenames on disk.</a:t>
            </a:r>
            <a:br>
              <a:rPr lang="en-GB" dirty="0"/>
            </a:br>
            <a:endParaRPr lang="en-GB" dirty="0"/>
          </a:p>
          <a:p>
            <a:pPr fontAlgn="base"/>
            <a:r>
              <a:rPr lang="en-GB" dirty="0"/>
              <a:t>Cascade Deletion: When a patient or report is deleted, all associated files are cleaned from disk.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8906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303CAD1-7E7A-F942-762C-B78375556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489FECC4-9C0D-36B0-BE77-9C7D608A5E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735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F2E9E1E6-FF7D-DD58-0506-7123445294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D9C464D-F3F4-12AE-E080-397D3F30AC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A0A2D7-6701-6D8B-280C-A006FE646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921001"/>
              </p:ext>
            </p:extLst>
          </p:nvPr>
        </p:nvGraphicFramePr>
        <p:xfrm>
          <a:off x="457200" y="1397000"/>
          <a:ext cx="8229600" cy="4986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58">
                  <a:extLst>
                    <a:ext uri="{9D8B030D-6E8A-4147-A177-3AD203B41FA5}">
                      <a16:colId xmlns:a16="http://schemas.microsoft.com/office/drawing/2014/main" val="4011217440"/>
                    </a:ext>
                  </a:extLst>
                </a:gridCol>
                <a:gridCol w="2491721">
                  <a:extLst>
                    <a:ext uri="{9D8B030D-6E8A-4147-A177-3AD203B41FA5}">
                      <a16:colId xmlns:a16="http://schemas.microsoft.com/office/drawing/2014/main" val="1581618556"/>
                    </a:ext>
                  </a:extLst>
                </a:gridCol>
                <a:gridCol w="2491721">
                  <a:extLst>
                    <a:ext uri="{9D8B030D-6E8A-4147-A177-3AD203B41FA5}">
                      <a16:colId xmlns:a16="http://schemas.microsoft.com/office/drawing/2014/main" val="1150805813"/>
                    </a:ext>
                  </a:extLst>
                </a:gridCol>
              </a:tblGrid>
              <a:tr h="80834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Terminal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581176"/>
                  </a:ext>
                </a:extLst>
              </a:tr>
              <a:tr h="808347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Phase 1 – Core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Week 1–2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Node.js v22.x, MongoDB 8.2, Ollama with llama3.2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221709"/>
                  </a:ext>
                </a:extLst>
              </a:tr>
              <a:tr h="808347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Phase 2 – Data &amp;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Week 3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cd backend &gt; npm install &gt; npm run dev  (runs on port 5000)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925701"/>
                  </a:ext>
                </a:extLst>
              </a:tr>
              <a:tr h="808347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Phase 3 – GenAI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Week 4–5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cd frontend &gt; npm install &gt; npm run dev(runs on port 5173)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805941"/>
                  </a:ext>
                </a:extLst>
              </a:tr>
              <a:tr h="808347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Phase 4 – Evaluation &amp;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Week 6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ollama serve  (runs on port 11434)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425154"/>
                  </a:ext>
                </a:extLst>
              </a:tr>
              <a:tr h="808347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Phase 5 – Research Paper &amp; Presentation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Week 7–8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Set MONGODB_URI, JWT_SECRET, PORT=5000, OLLAMA_URL in backend/.env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629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350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A07593DB-9855-8EBC-413D-BE0067DD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04F0DB6A-F5B0-CFB1-61B0-5B1642AE6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4566" y="457201"/>
            <a:ext cx="714313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ADE65D55-5A2D-BA6E-5BAB-8597B175AC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5222D96-B189-D0B7-7E02-0931011813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B8D3D-4315-2167-8BDC-E85E79BFB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600201"/>
            <a:ext cx="8578645" cy="5121274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000" dirty="0"/>
              <a:t>[1] DigiRepo GitHub Repository — Full-stack MERN application source code. , "Generative AI for Clinical Summarization," ,           </a:t>
            </a:r>
            <a:r>
              <a:rPr lang="en-IN" sz="2000" dirty="0">
                <a:solidFill>
                  <a:schemeClr val="bg1"/>
                </a:solidFill>
              </a:rPr>
              <a:t>----</a:t>
            </a:r>
          </a:p>
          <a:p>
            <a:pPr marL="114300" indent="0">
              <a:buNone/>
            </a:pPr>
            <a:r>
              <a:rPr lang="en-IN" sz="2000" dirty="0"/>
              <a:t>[2] Ollama — Local LLM inference server. llama3.2 model used for medical summarization. </a:t>
            </a:r>
            <a:r>
              <a:rPr lang="en-IN" sz="2000" i="1" dirty="0"/>
              <a:t>et al.</a:t>
            </a:r>
            <a:r>
              <a:rPr lang="en-IN" sz="2000" dirty="0"/>
              <a:t>, "FHIR-Based Healthcare Data </a:t>
            </a:r>
            <a:r>
              <a:rPr lang="en-IN" sz="2000" dirty="0" err="1"/>
              <a:t>Exchang</a:t>
            </a:r>
            <a:r>
              <a:rPr lang="en-IN" sz="2000" dirty="0"/>
              <a:t> Framework," </a:t>
            </a:r>
            <a:r>
              <a:rPr lang="en-IN" sz="2000" i="1" dirty="0"/>
              <a:t>Elsevier</a:t>
            </a:r>
            <a:r>
              <a:rPr lang="en-IN" sz="2000" dirty="0"/>
              <a:t>,   </a:t>
            </a:r>
            <a:r>
              <a:rPr lang="en-IN" sz="2000" dirty="0">
                <a:solidFill>
                  <a:schemeClr val="bg1"/>
                </a:solidFill>
              </a:rPr>
              <a:t>------</a:t>
            </a:r>
            <a:r>
              <a:rPr lang="en-IN" sz="2000" dirty="0"/>
              <a:t>2022.</a:t>
            </a:r>
          </a:p>
          <a:p>
            <a:pPr marL="114300" indent="0">
              <a:buNone/>
            </a:pPr>
            <a:r>
              <a:rPr lang="en-IN" sz="2000" dirty="0"/>
              <a:t>[3] E. </a:t>
            </a:r>
            <a:r>
              <a:rPr lang="en-IN" sz="2000" dirty="0" err="1"/>
              <a:t>Alsentzer</a:t>
            </a:r>
            <a:r>
              <a:rPr lang="en-IN" sz="2000" dirty="0"/>
              <a:t>, </a:t>
            </a:r>
            <a:r>
              <a:rPr lang="en-IN" sz="2000" i="1" dirty="0"/>
              <a:t>et al.</a:t>
            </a:r>
            <a:r>
              <a:rPr lang="en-IN" sz="2000" dirty="0"/>
              <a:t>, "</a:t>
            </a:r>
            <a:r>
              <a:rPr lang="en-IN" sz="2000" dirty="0" err="1"/>
              <a:t>ClinicalBERT</a:t>
            </a:r>
            <a:r>
              <a:rPr lang="en-IN" sz="2000" dirty="0"/>
              <a:t>: Contextualized Embeddings for Clinical    </a:t>
            </a:r>
            <a:r>
              <a:rPr lang="en-IN" sz="2000" dirty="0">
                <a:solidFill>
                  <a:schemeClr val="bg1"/>
                </a:solidFill>
              </a:rPr>
              <a:t>-------</a:t>
            </a:r>
            <a:r>
              <a:rPr lang="en-IN" sz="2000" dirty="0"/>
              <a:t> Text," </a:t>
            </a:r>
            <a:r>
              <a:rPr lang="en-IN" sz="2000" i="1" dirty="0" err="1"/>
              <a:t>arXiv</a:t>
            </a:r>
            <a:r>
              <a:rPr lang="en-IN" sz="2000" i="1" dirty="0"/>
              <a:t> preprint arXiv:1904.05342</a:t>
            </a:r>
            <a:r>
              <a:rPr lang="en-IN" sz="2000" dirty="0"/>
              <a:t>, 2019.</a:t>
            </a:r>
          </a:p>
          <a:p>
            <a:pPr marL="114300" indent="0">
              <a:buNone/>
            </a:pPr>
            <a:r>
              <a:rPr lang="en-IN" sz="2000" dirty="0"/>
              <a:t>[4] J. Wu, </a:t>
            </a:r>
            <a:r>
              <a:rPr lang="en-IN" sz="2000" i="1" dirty="0"/>
              <a:t>et al.</a:t>
            </a:r>
            <a:r>
              <a:rPr lang="en-IN" sz="2000" dirty="0"/>
              <a:t>, "LLM-Based Agentic AI for Healthcare-Automation," </a:t>
            </a:r>
            <a:r>
              <a:rPr lang="en-IN" sz="2000" i="1" dirty="0"/>
              <a:t>Springer</a:t>
            </a:r>
            <a:r>
              <a:rPr lang="en-IN" sz="2000" dirty="0"/>
              <a:t>,    </a:t>
            </a:r>
            <a:r>
              <a:rPr lang="en-IN" sz="2000" dirty="0">
                <a:solidFill>
                  <a:schemeClr val="bg1"/>
                </a:solidFill>
              </a:rPr>
              <a:t>----</a:t>
            </a:r>
            <a:r>
              <a:rPr lang="en-IN" sz="2000" dirty="0"/>
              <a:t>2024.</a:t>
            </a:r>
          </a:p>
          <a:p>
            <a:pPr marL="114300" indent="0">
              <a:buNone/>
            </a:pPr>
            <a:r>
              <a:rPr lang="en-IN" sz="2000" dirty="0"/>
              <a:t>[5] S. Kumar and A. Jain, "Explainable AI for Medical Decision Support," </a:t>
            </a:r>
            <a:r>
              <a:rPr lang="en-IN" sz="2000" i="1" dirty="0"/>
              <a:t>ACM</a:t>
            </a:r>
            <a:r>
              <a:rPr lang="en-IN" sz="2000" dirty="0"/>
              <a:t>, </a:t>
            </a:r>
            <a:r>
              <a:rPr lang="en-IN" sz="2000" dirty="0">
                <a:solidFill>
                  <a:schemeClr val="bg1"/>
                </a:solidFill>
              </a:rPr>
              <a:t>-------</a:t>
            </a:r>
            <a:r>
              <a:rPr lang="en-IN" sz="2000" dirty="0"/>
              <a:t>2023.</a:t>
            </a:r>
          </a:p>
          <a:p>
            <a:pPr marL="114300" indent="0">
              <a:buNone/>
            </a:pPr>
            <a:r>
              <a:rPr lang="en-IN" sz="2000" dirty="0"/>
              <a:t>[6] MIT Laboratory for Computational Physiology, </a:t>
            </a:r>
            <a:r>
              <a:rPr lang="en-IN" sz="2000" i="1" dirty="0"/>
              <a:t>MIMIC-IV Dataset</a:t>
            </a:r>
            <a:r>
              <a:rPr lang="en-IN" sz="2000" dirty="0"/>
              <a:t> [Data set], </a:t>
            </a:r>
            <a:r>
              <a:rPr lang="en-IN" sz="2000" dirty="0">
                <a:solidFill>
                  <a:schemeClr val="bg1"/>
                </a:solidFill>
              </a:rPr>
              <a:t>-----</a:t>
            </a:r>
            <a:r>
              <a:rPr lang="en-IN" sz="2000" dirty="0"/>
              <a:t>Cambridge, MA, USA: MIT, 2023.</a:t>
            </a:r>
          </a:p>
          <a:p>
            <a:pPr marL="114300" indent="0">
              <a:buNone/>
            </a:pPr>
            <a:r>
              <a:rPr lang="en-IN" sz="2000" dirty="0"/>
              <a:t>[7] MITRE, </a:t>
            </a:r>
            <a:r>
              <a:rPr lang="en-IN" sz="2000" i="1" dirty="0"/>
              <a:t>Synthea Synthetic Patient Generator</a:t>
            </a:r>
            <a:r>
              <a:rPr lang="en-IN" sz="2000" dirty="0"/>
              <a:t> [Data set], 2023.</a:t>
            </a:r>
          </a:p>
          <a:p>
            <a:pPr marL="628650" indent="-514350" fontAlgn="base">
              <a:buFont typeface="+mj-lt"/>
              <a:buAutoNum type="arabicPeriod"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788628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1179</Words>
  <Application>Microsoft Office PowerPoint</Application>
  <PresentationFormat>On-screen Show (4:3)</PresentationFormat>
  <Paragraphs>129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DigiRepo: EHR Summarization using Agentic AI Project Category : Researched Based</vt:lpstr>
      <vt:lpstr>      Abstract</vt:lpstr>
      <vt:lpstr>      Introduction</vt:lpstr>
      <vt:lpstr>PowerPoint Presentation</vt:lpstr>
      <vt:lpstr>PowerPoint Presentation</vt:lpstr>
      <vt:lpstr>      Key Features</vt:lpstr>
      <vt:lpstr>      AI Agent Pipeline</vt:lpstr>
      <vt:lpstr>      Security &amp; Access Control</vt:lpstr>
      <vt:lpstr>      Timeline</vt:lpstr>
      <vt:lpstr>     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Project&gt;</dc:title>
  <dc:creator>Kevin</dc:creator>
  <cp:lastModifiedBy>Aman Jain</cp:lastModifiedBy>
  <cp:revision>16</cp:revision>
  <dcterms:created xsi:type="dcterms:W3CDTF">2020-05-13T07:00:09Z</dcterms:created>
  <dcterms:modified xsi:type="dcterms:W3CDTF">2026-03-06T19:14:20Z</dcterms:modified>
</cp:coreProperties>
</file>